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835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7436815" y="1051560"/>
            <a:ext cx="4114800" cy="4480560"/>
          </a:xfrm>
          <a:prstGeom prst="roundRect">
            <a:avLst/>
          </a:prstGeom>
          <a:solidFill>
            <a:srgbClr val="0E1A2B">
              <a:alpha val="85000"/>
            </a:srgbClr>
          </a:solidFill>
          <a:ln w="12700">
            <a:solidFill>
              <a:srgbClr val="0E1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Stany zagrażające życiu w reumatologii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Rozpoznanie, kryteria i postępowanie doraźne (dla studentów)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dydaktyczne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0820095" cy="4937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18001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Rozpoznać objawy alarmowe i typowe „pułapki” diagnostyczne.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Znać aktualne kryteria klasyfikacyjne/rozpoznania kluczowych jednostek.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Zaplanować minimalny pakiet badań w SOR/na dyżurze.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Wdrożyć leczenie ratujące narząd/życie przed potwierdzeniem etiologii.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Podejście do pacjenta z podejrzeniem „reumatologicznego stanu nagłego”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ABCDE + szybka ocena hemodynamiczna i oddechowa; saturacja, gazometria, diureza.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wyklucz infekcję (zwł. u chorych na GKS/biologii): posiewy, PCT/CRP, RTG/CT wg wskazań.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Różnicuj: aktywność choroby vs powikłanie leczenia vs nowa choroba współistniejąca (zakrzepica, nowotwór).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„organ- / life-threatening”: zabezpiecz narząd (wzrok, nerki, płuca, OUN) i konsultuj pilnie.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Najczęstsze stany zagrażające (reumatologia/choroby układowe) – mapa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Infekcje: septyczne zapalenie stawu, sepsa/wstrząs septyczny.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Zapalenia naczyń: GCA (zagrożenie utraty wzroku), AAV (zespół płucno-nerkowy/DAH).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Zakrzepowość: APS/CAPS (wielonarządowa zakrzepica).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Narządy krytyczne: twardzinowy przełom nerkowy, tamponada serca.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Hiperzapalne: HLH/MAS.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Ucisk struktur nerwowych: zespół ogona końskiego, mielopatia szyjna.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Infekcyjne (septyczne) zapalenie stawów – rozpoznanie (pilne)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Ostre zapalenie zwykle jednego stawu: ból, obrzęk, ocieplenie, ograniczenie ruchu ± gorączka.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„Kryterium kluczowe”: artrocenteza – badanie płynu stawowego (barwa, leukocyty, Gram, posiew).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Rozpoznanie potwierdza: wykazanie drobnoustroju w płynie stawowym i/lub dodatnie posiewy krwi.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Badania wspierające: leukocytoza, ↑CRP/OB; obrazowanie (USG) do lokalizacji wysięku.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Różnicuj natychmiast z: dną/CPPD, krwawieniem do stawu, rzutem RZS/ŁZS.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Infekcyjne (septyczne) zapalenie stawów – leczenie doraźne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zwlekaj: posiewy (krew + płyn), a następnie empiryczna antybiotykoterapia i.v.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Odbarczenie stawu: punkcja płynu, płukanie artroskopowe/operacyjne wg wskazań.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Unieruchomienie krótkotrwałe → następnie wczesna rehabilitacja po opanowaniu infekcji.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 ogólnoustrojowa: kryteria sepsy, niewydolność narządowa, endocarditis risk.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Modyfikuj leczenie po antybiogramie; konsultacja ortopedia/reumatologia/zakaźnik.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Sepsa i wstrząs septyczny (Sepsis-3) u chorego reumatologicznego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Sepsa = zakażenie + zagrażająca życiu dysfunkcja narządowa (ΔSOFA ≥2).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qSOFA (przesiew): RR ≥22/min, SBP ≤100 mmHg, zaburzenia świadomości; ≥2 = wysokie ryzyko.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Wstrząs septyczny: sepsa + konieczność amin presyjnych do MAP ≥65 mmHg oraz mleczany &gt;2 mmol/l mimo płynów.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Postępowanie (pierwsza godzina): posiewy, antybiotyk i.v., płyny, ocena mleczanów, źródło zakażenia.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immunosupresji: atypowe objawy, szybka progresja – próg hospitalizacji niski.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Olbrzymiokomórkowe zapalenie tętnic (GCA) – kryteria ACR/EULAR 2022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 klasyfikacyjne (punktowe) – stosuj po rozpoznaniu zapalenia naczyń; wyklucz inne przyczyny.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Punkty (wybrane): dodatni wynik biopsji t. skroniowej lub „halo sign” w USG (+5).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↑OB ≥50 mm/h lub ↑CRP ≥10 mg/l (+3); nagła utrata widzenia (+3).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Chromanie żuchwy/języka (+2), nowy ból głowy skroniowy (+2), tkliwość skóry głowy (+2).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Nieprawidłowości t. skroniowej w badaniu (+2); zajęcie t. pachowych obustronne w obrazowaniu (+2); zapalenie aorty w PET-CT (+2).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Klasyfikacja: suma ≥6 pkt.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GCA – diagnostyka i leczenie natychmiastowe (zagrożenie utraty wzroku)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Objawy alarmowe: zaburzenia widzenia (amaurosis fugax), diplopia, ból okolicy skroni, chromanie żuchwy.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Badania: CRP/OB, morfologia (trombocytoza), USG t. skroniowych/pachowych, TAB; obrazowanie dużych naczyń (CTA/MRA/PET) wg fenotypu.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Leczenie „tu i teraz”: GKS w wysokich dawkach natychmiast po podejrzeniu (przed biopsją).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objawach ocznych: metylprednizolon i.v. (puls) → następnie prednizon p.o. z redukcją.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Leczenie oszczędzające GKS: tocilizumab u wybranych; profilaktyka powikłań GKS (PPI, wapń/wit. D, ochrona kości).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– kryteria klasyfikacyjne ACR/EULAR 2022 (≥5 pkt)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0820095" cy="4937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18001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 stosuj u chorych z zapaleniem małych/średnich naczyń; wyklucz inne przyczyny.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Zajęcie nosa (krwisty wyciek, owrzodzenia/strupy, perforacja przegrody) (+3).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Zajęcie chrząstek (np. zapalenie chrząstek ucha/nosa, stridor, nos siodełkowaty) (+2).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PR3-ANCA / c-ANCA (+5); MPO-ANCA / p-ANCA (–1); eozynofilia ≥1000/µl (–4).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Obrazowanie: guzki/guzy/jamy w płucach (+2); zapalenie zatok/wyrostka sutkowatego (+1).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Histologia: ziarniniak/komórki olbrzymie (+2); ubogoimmunologiczne KZN (+1).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 – kryteria klasyfikacyjne ACR/EULAR 2022 (≥5 pkt)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0820095" cy="4937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18001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Zajęcie nosa (jak w GPA) (–3).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MPO-ANCA / p-ANCA (+6); PR3-ANCA / c-ANCA (–1); eozynofilia ≥1000/µl (–4).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Obrazowanie: włóknienie/śródmiąższowa choroba płuc (+3).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Histologia: ubogoimmunologiczne kłębuszkowe zapalenie nerek (+3).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Spełnienie: ≥5 pkt z 6 kategorii (po wykluczeniu innych przyczyn).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– kryteria klasyfikacyjne ACR/EULAR 2022 (≥6 pkt)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0820095" cy="4937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18001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Obturacyjna choroba dróg oddechowych (+3) i polipy nosa (+3).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Eozynofilia ≥1000/µl (+5).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Mononeuropatia wieloogniskowa (+1).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Histologia: pozanaczyniowe zapalenie z dominacją eozynofilów (+2).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PR3-ANCA/c-ANCA (–3) i krwinkomocz (–1) obniżają punktację.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Spełnienie: ≥6 pkt z 7 kategorii.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płucno-nerkowy / rozlane krwawienie pęcherzykowe (DAH) – rozpoznanie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Podejrzewaj u chorego z AAV/SLE/APS: duszność, hipoksemia, krwioplucie (może nie wystąpić), spadek Hb.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Obrazowanie: obustronne, rozlane zacienienia śródmiąższowo-pęcherzykowe (RTG/CT).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Potwierdzenie: bronchoskopia – BAL narastająco krwisty; hemosyderofagi po 48–72 h.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Równolegle: cechy RPGN (krwinkomocz, wałeczki, wzrost kreatyniny) + przeciwciała (ANCA, aPL, anty-GBM).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różnicuj z infekcją i obrzękiem płuc; posiewy, PCT, badania wirusologiczne wg sytuacji.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płucno-nerkowy (AAV/anti-GBM) – leczenie pilne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0820095" cy="4937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18001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Natychmiast: tlenoterapia/respirator, transfuzje wg wskazań, profilaktyka zakrzepicy po opanowaniu krwawienia.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Immunosupresja indukcyjna: GKS w pulsach i.v. → GKS p.o. + rytuksymab lub cyklofosfamid.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Plazmafereza: rozważ w wybranych sytuacjach (np. anti-GBM, ciężka niewydolność nerek) wg aktualnych zaleceń.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Leczenie wspomagające: dializoterapia, kontrola płynów, PJP prophylaxis (TMP/SMX) przy intensywnej immunosupresji.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Równolegle: agresywne wykluczenie/leczenie zakażenia (częsty „mimicker”).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– kryteria klasyfikacyjne ACR/EULAR 2023 (skrót praktyczny)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 klasyfikacyjne do badań klinicznych: ≥3 pkt z domen klinicznych i ≥3 pkt z domen laboratoryjnych.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 domen klinicznych: ŻChZZ, zakrzepica tętnicza, mikronaczyniowa (np. nefropatia APS, DAH), położnicza, zastawki serca, małopłytkowość.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Domeny laboratoryjne: antykoagulant toczniowy (LA), aCL i/lub aβ2GPI (IgG/IgM) – punktacja zależna od miana i utrwalania się.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danej domeny liczy się tylko zdarzenie o najwyższej punktacji.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 muszą być dodatnie w wymaganym odstępie (≥12 tyg.) i czasowo związane z kryteriami klinicznymi (≤3 lata).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Katastrofalny zespół antyfosfolipidowy (CAPS) – kryteria i leczenie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 (Asherson): zajęcie ≥3 narządów/układów + rozwój objawów jednoczasowo lub &lt;1 tyg.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Potwierdzenie zakrzepicy małych naczyń w histologii oraz obecność aPL (LA/aCL/aβ2GPI).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 kliniczny: mikroangiopatia zakrzepowa, niewydolność wielonarządowa; często czynnik wyzwalający (zakażenie, zabieg, odstawienie antykoagulacji).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Leczenie „triple therapy”: heparyna + GKS w wysokich dawkach + plazmafereza i/lub IVIG.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Terapie ratunkowe: rytuksymab, eculizumab (wybrane przypadki); intensywne leczenie czynnika wyzwalającego.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Twardzinowy przełom nerkowy (SRC) – rozpoznanie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0820095" cy="4937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18001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Definicja kliniczna: twardzina układowa + ostre uszkodzenie nerek ± nagłe/ciężkie nadciśnienie (rzadziej postać normotensyjna).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Cechy wspierające: mikroangiopatyczna niedokrwistość hemolityczna (schistocyty), małopłytkowość, retinopatia nadciśnieniowa.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Badania: kreatynina/diureza, bad. ogólne moczu (białkomocz/krwinkomocz), LDH, haptoglobina; USG nerek (wykluczenie przeszkody).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Czynniki ryzyka: wczesna postać uogólniona, przeciwciała anty-RNA pol III, wysokie dawki GKS.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Różnicuj z TMA (TTP/HUS), nefropatią toczniową, APS-nefropatią, odwodnieniem i nefrotoksycznością leków.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– leczenie natychmiastowe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0820095" cy="4937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18001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 natychmiast (prefer. kaptopryl) – szybka titracja do kontroli ciśnienia.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stopniowe obniżanie BP (unikaj gwałtownej hipotensji); monitoruj diurezę i elektrolity.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Leczenie nerkozastępcze (HD) przy wskazaniach; poprawa może wystąpić po tygodniach/miesiącach.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Unikaj wysokich dawek GKS (zwiększają ryzyko SRC) – wyjątki tylko przy bezwzględnych wskazaniach.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Wczesna konsultacja nefrologiczna; ocena powikłań sercowo-naczyniowych.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hemofagocytowy (HLH) – kryteria HLH-2004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0820095" cy="4937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18001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Rozpoznanie: spełnienie ≥5 z 8 kryteriów (lub mutacja/genetyka w postaci pierwotnej).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Kryteria: gorączka; splenomegalia; cytopenie ≥2 linii; hiperTG i/lub hipofibrynogenemia.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Hemofagocytoza w szpiku/śledzionie/węzłach; niska aktywność NK; ferrytyna ≥500 µg/l; ↑sCD25.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reumatologii: HLH wtórny (np. SLE, AOSD) często mylony z sepsą – zawsze oceniaj triglicerydy, fibrynogen, ferrytynę.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HScore może wspierać decyzję (praktyczna na dyżurze).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aktywacji makrofagów (MAS) – kryteria 2016 (sJIA/AOSD)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 klasyfikacyjne (2016): ferrytyna &gt;684 ng/ml + ≥2 z poniższych: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 ≤181×10⁹/l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&gt;48 U/l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trójglicerydy &gt;156 mg/dl (1,77 mmol/l)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fibrynogen ≤360 mg/dl (3,6 g/l).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Postępowanie: natychmiast GKS w wysokich dawkach; często konieczna cyklosporyna i/lub blokada IL‑1 (anakinra).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ogona końskiego / mielopatia – „red flags” i rozpoznanie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ogona końskiego: rozległe zaburzenia czucia i ruchu w obrębie krocza i KD + zaburzenia zwieraczy (zatrzymanie moczu/stolca).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Czerwone flagi: znieczulenie „siodłowe”, obustronne objawy korzeniowe, postępujący niedowład, dysfunkcja zwieraczy.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Diagnostyka z wyboru: pilne MRI odcinka lędźwiowego; ocena zatrzymania moczu (PVR) jako wsparcie kliniczne.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Mielopatia szyjna: niezgrabność rąk, zaburzenia chodu, objawy piramidowe – pilne MRI odc. szyjnego.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Postępowanie: natychmiastowa konsultacja neurochirurgiczna/ortopedyczna; dekompresja w trybie pilnym.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Tamponada serca w chorobach autoimmunizacyjnych – rozpoznanie i leczenie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Podejrzewaj u chorego z SLE/RA/twardziną: duszność, hipotensja, tachykardia, tętno paradoksalne.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Klasyczne objawy: triada Becka (hipotensja, poszerzone żyły szyjne, ściszone tony serca) – nie zawsze pełna.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EKG: niskie napięcie, elektryczna alternans; RTG: powiększona sylwetka serca (przy wysięku).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serca (kluczowe): zapadanie jam prawych w rozkurczu, poszerzona IVC bez zapadania, zmienność przepływów oddechowa.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Leczenie: pilna perikardiocenteza (przy niestabilności) + leczenie przyczynowe (np. immunosupresja w zapaleniu osierdzia).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– co student ma zapamiętać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0820095" cy="4937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18001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Septyczne zapalenie stawu: każde ostre monoarthritis traktuj jako zakażenie do czasu wykluczenia → artrocenteza.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GCA z objawami ocznymi: steryd i.v. natychmiast – nie czekaj na biopsję.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AAV/DAH/RPGN: leczenie indukcyjne + intensywne wykluczenie infekcji; współpraca wielospecjalistyczna.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APS/CAPS: myśl o aPL przy nietypowej zakrzepicy i niewydolności wielonarządowej; „triple therapy” w CAPS.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ACEI od razu; nadciśnienie + AKI + MAHA u chorego z twardziną = SRC.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HLH/MAS: bardzo wysoka ferrytyna + cytopenie + hiperTG/↓fibrynogen → rozważ hiperstan zapalny.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ogona końskiego/tamponada: pilne rozpoznanie i procedura ratująca życie.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301752"/>
            <a:ext cx="12191695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 | Stany zagrażające w reumatologii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91495" y="73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1264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23544" y="566928"/>
            <a:ext cx="10582351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(główne) – Medycyna Praktyczna / Interna Szczeklika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20095" cy="44074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10180015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mp.pl (Interna – tabele kryteriów ACR/EULAR 2022–2023): GCA, AAV (GPA/MPA/EGPA), APS.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mp.pl (Reumatologia/wywiady): zakażenie stawu – diagnostyka i leczenie.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mp.pl (Portal pacjenta): septyczne zapalenie stawów; red flags bólu kręgosłupa (zespół ogona końskiego).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Dodatkowo: oryginalne publikacje ACR/EULAR (Ann Rheum Dis 2022–2023) cytowane w tabelach MP.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2384</Words>
  <Application>Microsoft Office PowerPoint</Application>
  <PresentationFormat>Panoramiczny</PresentationFormat>
  <Paragraphs>215</Paragraphs>
  <Slides>24</Slides>
  <Notes>24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Paweł T</cp:lastModifiedBy>
  <cp:revision>1</cp:revision>
  <dcterms:created xsi:type="dcterms:W3CDTF">2025-12-31T04:34:04Z</dcterms:created>
  <dcterms:modified xsi:type="dcterms:W3CDTF">2025-12-31T04:37:38Z</dcterms:modified>
</cp:coreProperties>
</file>